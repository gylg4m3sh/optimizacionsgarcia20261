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ora"/>
      <p:regular r:id="rId23"/>
      <p:bold r:id="rId24"/>
      <p:italic r:id="rId25"/>
      <p:boldItalic r:id="rId26"/>
    </p:embeddedFont>
    <p:embeddedFont>
      <p:font typeface="Ancizar Serif ExtraBold"/>
      <p:bold r:id="rId27"/>
      <p:boldItalic r:id="rId28"/>
    </p:embeddedFont>
    <p:embeddedFont>
      <p:font typeface="Ancizar Sans"/>
      <p:regular r:id="rId29"/>
      <p:bold r:id="rId30"/>
      <p:italic r:id="rId31"/>
      <p:boldItalic r:id="rId32"/>
    </p:embeddedFont>
    <p:embeddedFont>
      <p:font typeface="Ancizar Sans Light"/>
      <p:regular r:id="rId33"/>
      <p:bold r:id="rId34"/>
      <p:italic r:id="rId35"/>
      <p:boldItalic r:id="rId36"/>
    </p:embeddedFont>
    <p:embeddedFont>
      <p:font typeface="Ancizar Serif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6E45CC-7A0F-46B0-8DA4-F23A8E1FD76B}">
  <a:tblStyle styleId="{176E45CC-7A0F-46B0-8DA4-F23A8E1FD76B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16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ncizarSerif-boldItalic.fntdata"/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ora-bold.fntdata"/><Relationship Id="rId23" Type="http://schemas.openxmlformats.org/officeDocument/2006/relationships/font" Target="fonts/Lor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ora-boldItalic.fntdata"/><Relationship Id="rId25" Type="http://schemas.openxmlformats.org/officeDocument/2006/relationships/font" Target="fonts/Lora-italic.fntdata"/><Relationship Id="rId28" Type="http://schemas.openxmlformats.org/officeDocument/2006/relationships/font" Target="fonts/AncizarSerifExtraBold-boldItalic.fntdata"/><Relationship Id="rId27" Type="http://schemas.openxmlformats.org/officeDocument/2006/relationships/font" Target="fonts/AncizarSerifExtra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ncizar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ncizarSans-italic.fntdata"/><Relationship Id="rId30" Type="http://schemas.openxmlformats.org/officeDocument/2006/relationships/font" Target="fonts/AncizarSans-bold.fntdata"/><Relationship Id="rId11" Type="http://schemas.openxmlformats.org/officeDocument/2006/relationships/slide" Target="slides/slide5.xml"/><Relationship Id="rId33" Type="http://schemas.openxmlformats.org/officeDocument/2006/relationships/font" Target="fonts/AncizarSansLight-regular.fntdata"/><Relationship Id="rId10" Type="http://schemas.openxmlformats.org/officeDocument/2006/relationships/slide" Target="slides/slide4.xml"/><Relationship Id="rId32" Type="http://schemas.openxmlformats.org/officeDocument/2006/relationships/font" Target="fonts/AncizarSans-boldItalic.fntdata"/><Relationship Id="rId13" Type="http://schemas.openxmlformats.org/officeDocument/2006/relationships/slide" Target="slides/slide7.xml"/><Relationship Id="rId35" Type="http://schemas.openxmlformats.org/officeDocument/2006/relationships/font" Target="fonts/AncizarSansLight-italic.fntdata"/><Relationship Id="rId12" Type="http://schemas.openxmlformats.org/officeDocument/2006/relationships/slide" Target="slides/slide6.xml"/><Relationship Id="rId34" Type="http://schemas.openxmlformats.org/officeDocument/2006/relationships/font" Target="fonts/AncizarSansLight-bold.fntdata"/><Relationship Id="rId15" Type="http://schemas.openxmlformats.org/officeDocument/2006/relationships/slide" Target="slides/slide9.xml"/><Relationship Id="rId37" Type="http://schemas.openxmlformats.org/officeDocument/2006/relationships/font" Target="fonts/AncizarSerif-regular.fntdata"/><Relationship Id="rId14" Type="http://schemas.openxmlformats.org/officeDocument/2006/relationships/slide" Target="slides/slide8.xml"/><Relationship Id="rId36" Type="http://schemas.openxmlformats.org/officeDocument/2006/relationships/font" Target="fonts/AncizarSansLight-boldItalic.fntdata"/><Relationship Id="rId17" Type="http://schemas.openxmlformats.org/officeDocument/2006/relationships/slide" Target="slides/slide11.xml"/><Relationship Id="rId39" Type="http://schemas.openxmlformats.org/officeDocument/2006/relationships/font" Target="fonts/AncizarSerif-italic.fntdata"/><Relationship Id="rId16" Type="http://schemas.openxmlformats.org/officeDocument/2006/relationships/slide" Target="slides/slide10.xml"/><Relationship Id="rId38" Type="http://schemas.openxmlformats.org/officeDocument/2006/relationships/font" Target="fonts/AncizarSerif-bold.fntdata"/><Relationship Id="rId19" Type="http://schemas.openxmlformats.org/officeDocument/2006/relationships/font" Target="fonts/Montserra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b88f838e6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eb88f838e6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b88f838e6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b88f838e6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b88f838e6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eb88f838e6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b88f838e6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eb88f838e6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b88f838e6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b88f838e6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b88f838e6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eb88f838e6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b88f838e6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b88f838e6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457200" y="368595"/>
            <a:ext cx="8229600" cy="694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ncizar Serif ExtraBold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301256" y="1805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9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indent="0" lvl="1" marL="0" algn="l">
              <a:spcBef>
                <a:spcPts val="0"/>
              </a:spcBef>
              <a:buNone/>
              <a:defRPr b="0" i="0" sz="9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2pPr>
            <a:lvl3pPr indent="0" lvl="2" marL="0" algn="l">
              <a:spcBef>
                <a:spcPts val="0"/>
              </a:spcBef>
              <a:buNone/>
              <a:defRPr b="0" i="0" sz="9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3pPr>
            <a:lvl4pPr indent="0" lvl="3" marL="0" algn="l">
              <a:spcBef>
                <a:spcPts val="0"/>
              </a:spcBef>
              <a:buNone/>
              <a:defRPr b="0" i="0" sz="9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4pPr>
            <a:lvl5pPr indent="0" lvl="4" marL="0" algn="l">
              <a:spcBef>
                <a:spcPts val="0"/>
              </a:spcBef>
              <a:buNone/>
              <a:defRPr b="0" i="0" sz="9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5pPr>
            <a:lvl6pPr indent="0" lvl="5" marL="0" algn="l">
              <a:spcBef>
                <a:spcPts val="0"/>
              </a:spcBef>
              <a:buNone/>
              <a:defRPr b="0" i="0" sz="9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6pPr>
            <a:lvl7pPr indent="0" lvl="6" marL="0" algn="l">
              <a:spcBef>
                <a:spcPts val="0"/>
              </a:spcBef>
              <a:buNone/>
              <a:defRPr b="0" i="0" sz="9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7pPr>
            <a:lvl8pPr indent="0" lvl="7" marL="0" algn="l">
              <a:spcBef>
                <a:spcPts val="0"/>
              </a:spcBef>
              <a:buNone/>
              <a:defRPr b="0" i="0" sz="9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8pPr>
            <a:lvl9pPr indent="0" lvl="8" marL="0" algn="l">
              <a:spcBef>
                <a:spcPts val="0"/>
              </a:spcBef>
              <a:buNone/>
              <a:defRPr b="0" i="0" sz="9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Página </a:t>
            </a:r>
            <a:fld id="{00000000-1234-1234-1234-123412341234}" type="slidenum">
              <a:rPr lang="es-CO"/>
              <a:t>‹#›</a:t>
            </a:fld>
            <a:r>
              <a:rPr lang="es-CO"/>
              <a:t> </a:t>
            </a:r>
            <a:endParaRPr sz="12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8B8B8C"/>
              </a:buClr>
              <a:buSzPts val="2800"/>
              <a:buNone/>
              <a:defRPr>
                <a:solidFill>
                  <a:srgbClr val="8B8B8C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8B8B8C"/>
              </a:buClr>
              <a:buSzPts val="2400"/>
              <a:buNone/>
              <a:defRPr>
                <a:solidFill>
                  <a:srgbClr val="8B8B8C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B8B8C"/>
              </a:buClr>
              <a:buSzPts val="2000"/>
              <a:buNone/>
              <a:defRPr>
                <a:solidFill>
                  <a:srgbClr val="8B8B8C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8B8B8C"/>
              </a:buClr>
              <a:buSzPts val="1800"/>
              <a:buNone/>
              <a:defRPr>
                <a:solidFill>
                  <a:srgbClr val="8B8B8C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8B8B8C"/>
              </a:buClr>
              <a:buSzPts val="1800"/>
              <a:buNone/>
              <a:defRPr>
                <a:solidFill>
                  <a:srgbClr val="8B8B8C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B8B8C"/>
              </a:buClr>
              <a:buSzPts val="2000"/>
              <a:buNone/>
              <a:defRPr>
                <a:solidFill>
                  <a:srgbClr val="8B8B8C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B8B8C"/>
              </a:buClr>
              <a:buSzPts val="2000"/>
              <a:buNone/>
              <a:defRPr>
                <a:solidFill>
                  <a:srgbClr val="8B8B8C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B8B8C"/>
              </a:buClr>
              <a:buSzPts val="2000"/>
              <a:buNone/>
              <a:defRPr>
                <a:solidFill>
                  <a:srgbClr val="8B8B8C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B8B8C"/>
              </a:buClr>
              <a:buSzPts val="2000"/>
              <a:buNone/>
              <a:defRPr>
                <a:solidFill>
                  <a:srgbClr val="8B8B8C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2299790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ncizar Serif ExtraBold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1174649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B8B8C"/>
              </a:buClr>
              <a:buSzPts val="2000"/>
              <a:buNone/>
              <a:defRPr sz="2000">
                <a:solidFill>
                  <a:srgbClr val="8B8B8C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B8B8C"/>
              </a:buClr>
              <a:buSzPts val="1800"/>
              <a:buNone/>
              <a:defRPr sz="1800">
                <a:solidFill>
                  <a:srgbClr val="8B8B8C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B8B8C"/>
              </a:buClr>
              <a:buSzPts val="1600"/>
              <a:buNone/>
              <a:defRPr sz="1600">
                <a:solidFill>
                  <a:srgbClr val="8B8B8C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B8B8C"/>
              </a:buClr>
              <a:buSzPts val="1400"/>
              <a:buNone/>
              <a:defRPr sz="1400">
                <a:solidFill>
                  <a:srgbClr val="8B8B8C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B8B8C"/>
              </a:buClr>
              <a:buSzPts val="1400"/>
              <a:buNone/>
              <a:defRPr sz="1400">
                <a:solidFill>
                  <a:srgbClr val="8B8B8C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B8B8C"/>
              </a:buClr>
              <a:buSzPts val="1400"/>
              <a:buNone/>
              <a:defRPr sz="1400">
                <a:solidFill>
                  <a:srgbClr val="8B8B8C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B8B8C"/>
              </a:buClr>
              <a:buSzPts val="1400"/>
              <a:buNone/>
              <a:defRPr sz="1400">
                <a:solidFill>
                  <a:srgbClr val="8B8B8C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B8B8C"/>
              </a:buClr>
              <a:buSzPts val="1400"/>
              <a:buNone/>
              <a:defRPr sz="1400">
                <a:solidFill>
                  <a:srgbClr val="8B8B8C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B8B8C"/>
              </a:buClr>
              <a:buSzPts val="1400"/>
              <a:buNone/>
              <a:defRPr sz="1400">
                <a:solidFill>
                  <a:srgbClr val="8B8B8C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343786" y="0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indent="0" lvl="1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2pPr>
            <a:lvl3pPr indent="0" lvl="2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3pPr>
            <a:lvl4pPr indent="0" lvl="3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4pPr>
            <a:lvl5pPr indent="0" lvl="4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5pPr>
            <a:lvl6pPr indent="0" lvl="5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6pPr>
            <a:lvl7pPr indent="0" lvl="6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7pPr>
            <a:lvl8pPr indent="0" lvl="7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8pPr>
            <a:lvl9pPr indent="0" lvl="8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311887"/>
            <a:ext cx="8229600" cy="75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ncizar Serif ExtraBold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343786" y="0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indent="0" lvl="1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2pPr>
            <a:lvl3pPr indent="0" lvl="2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3pPr>
            <a:lvl4pPr indent="0" lvl="3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4pPr>
            <a:lvl5pPr indent="0" lvl="4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5pPr>
            <a:lvl6pPr indent="0" lvl="5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6pPr>
            <a:lvl7pPr indent="0" lvl="6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7pPr>
            <a:lvl8pPr indent="0" lvl="7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8pPr>
            <a:lvl9pPr indent="0" lvl="8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311887"/>
            <a:ext cx="8229600" cy="75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ncizar Serif ExtraBold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343786" y="0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indent="0" lvl="1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2pPr>
            <a:lvl3pPr indent="0" lvl="2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3pPr>
            <a:lvl4pPr indent="0" lvl="3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4pPr>
            <a:lvl5pPr indent="0" lvl="4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5pPr>
            <a:lvl6pPr indent="0" lvl="5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6pPr>
            <a:lvl7pPr indent="0" lvl="6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7pPr>
            <a:lvl8pPr indent="0" lvl="7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8pPr>
            <a:lvl9pPr indent="0" lvl="8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311887"/>
            <a:ext cx="8229600" cy="75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ncizar Serif ExtraBold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343786" y="0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indent="0" lvl="1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2pPr>
            <a:lvl3pPr indent="0" lvl="2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3pPr>
            <a:lvl4pPr indent="0" lvl="3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4pPr>
            <a:lvl5pPr indent="0" lvl="4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5pPr>
            <a:lvl6pPr indent="0" lvl="5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6pPr>
            <a:lvl7pPr indent="0" lvl="6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7pPr>
            <a:lvl8pPr indent="0" lvl="7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8pPr>
            <a:lvl9pPr indent="0" lvl="8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343786" y="0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indent="0" lvl="1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2pPr>
            <a:lvl3pPr indent="0" lvl="2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3pPr>
            <a:lvl4pPr indent="0" lvl="3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4pPr>
            <a:lvl5pPr indent="0" lvl="4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5pPr>
            <a:lvl6pPr indent="0" lvl="5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6pPr>
            <a:lvl7pPr indent="0" lvl="6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7pPr>
            <a:lvl8pPr indent="0" lvl="7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8pPr>
            <a:lvl9pPr indent="0" lvl="8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ncizar Serif ExtraBold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343786" y="0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indent="0" lvl="1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2pPr>
            <a:lvl3pPr indent="0" lvl="2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3pPr>
            <a:lvl4pPr indent="0" lvl="3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4pPr>
            <a:lvl5pPr indent="0" lvl="4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5pPr>
            <a:lvl6pPr indent="0" lvl="5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6pPr>
            <a:lvl7pPr indent="0" lvl="6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7pPr>
            <a:lvl8pPr indent="0" lvl="7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8pPr>
            <a:lvl9pPr indent="0" lvl="8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ncizar Serif ExtraBold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343786" y="0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indent="0" lvl="1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2pPr>
            <a:lvl3pPr indent="0" lvl="2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3pPr>
            <a:lvl4pPr indent="0" lvl="3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4pPr>
            <a:lvl5pPr indent="0" lvl="4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5pPr>
            <a:lvl6pPr indent="0" lvl="5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6pPr>
            <a:lvl7pPr indent="0" lvl="6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7pPr>
            <a:lvl8pPr indent="0" lvl="7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8pPr>
            <a:lvl9pPr indent="0" lvl="8" marL="0" algn="l">
              <a:spcBef>
                <a:spcPts val="0"/>
              </a:spcBef>
              <a:buNone/>
              <a:defRPr sz="1200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311887"/>
            <a:ext cx="8229600" cy="75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ncizar Serif ExtraBold"/>
              <a:buNone/>
              <a:defRPr b="0" i="0" sz="3600" u="none" cap="none" strike="noStrike">
                <a:solidFill>
                  <a:schemeClr val="dk2"/>
                </a:solidFill>
                <a:latin typeface="Ancizar Serif ExtraBold"/>
                <a:ea typeface="Ancizar Serif ExtraBold"/>
                <a:cs typeface="Ancizar Serif ExtraBold"/>
                <a:sym typeface="Ancizar Serif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B8C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/>
        </p:nvSpPr>
        <p:spPr>
          <a:xfrm>
            <a:off x="1201350" y="933298"/>
            <a:ext cx="67413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ncizar Serif"/>
              <a:buNone/>
            </a:pPr>
            <a:r>
              <a:rPr lang="es-CO" sz="4000">
                <a:solidFill>
                  <a:schemeClr val="accent1"/>
                </a:solidFill>
                <a:latin typeface="Ancizar Serif"/>
                <a:ea typeface="Ancizar Serif"/>
                <a:cs typeface="Ancizar Serif"/>
                <a:sym typeface="Ancizar Serif"/>
              </a:rPr>
              <a:t>Criterio Minimax de Similitud para el Procesamiento de Información de Video</a:t>
            </a:r>
            <a:endParaRPr sz="4000">
              <a:solidFill>
                <a:schemeClr val="accent1"/>
              </a:solidFill>
              <a:latin typeface="Ancizar Serif"/>
              <a:ea typeface="Ancizar Serif"/>
              <a:cs typeface="Ancizar Serif"/>
              <a:sym typeface="Ancizar Serif"/>
            </a:endParaRPr>
          </a:p>
        </p:txBody>
      </p:sp>
      <p:cxnSp>
        <p:nvCxnSpPr>
          <p:cNvPr id="81" name="Google Shape;81;p12"/>
          <p:cNvCxnSpPr/>
          <p:nvPr/>
        </p:nvCxnSpPr>
        <p:spPr>
          <a:xfrm>
            <a:off x="1564366" y="3554607"/>
            <a:ext cx="58101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2"/>
          <p:cNvSpPr txBox="1"/>
          <p:nvPr/>
        </p:nvSpPr>
        <p:spPr>
          <a:xfrm>
            <a:off x="1150950" y="3008400"/>
            <a:ext cx="684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chemeClr val="accent5"/>
                </a:solidFill>
                <a:latin typeface="Ancizar Sans"/>
                <a:ea typeface="Ancizar Sans"/>
                <a:cs typeface="Ancizar Sans"/>
                <a:sym typeface="Ancizar Sans"/>
              </a:rPr>
              <a:t>Análisis basado en la comparación secuencial de elementos de imagen</a:t>
            </a:r>
            <a:endParaRPr b="1" sz="1800">
              <a:solidFill>
                <a:schemeClr val="accent5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1471341" y="3482705"/>
            <a:ext cx="62013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cizar Serif"/>
              <a:buNone/>
            </a:pPr>
            <a:r>
              <a:rPr b="0" i="0" lang="es-CO" sz="1800" u="none" cap="none" strike="noStrike">
                <a:solidFill>
                  <a:schemeClr val="accent1"/>
                </a:solidFill>
                <a:latin typeface="Ancizar Serif"/>
                <a:ea typeface="Ancizar Serif"/>
                <a:cs typeface="Ancizar Serif"/>
                <a:sym typeface="Ancizar Serif"/>
              </a:rPr>
              <a:t>Facultad de Ingeniería –Departamento</a:t>
            </a:r>
            <a:r>
              <a:rPr lang="es-CO" sz="1800">
                <a:solidFill>
                  <a:schemeClr val="accent1"/>
                </a:solidFill>
                <a:latin typeface="Ancizar Serif"/>
                <a:ea typeface="Ancizar Serif"/>
                <a:cs typeface="Ancizar Serif"/>
                <a:sym typeface="Ancizar Serif"/>
              </a:rPr>
              <a:t> de Sistemas e Industrial</a:t>
            </a:r>
            <a:endParaRPr/>
          </a:p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301256" y="1805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477376" y="302401"/>
            <a:ext cx="6609810" cy="562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ncizar Serif ExtraBold"/>
              <a:buNone/>
            </a:pPr>
            <a:r>
              <a:rPr lang="es-CO" sz="2200">
                <a:solidFill>
                  <a:schemeClr val="accent1"/>
                </a:solidFill>
                <a:latin typeface="Ancizar Serif ExtraBold"/>
                <a:ea typeface="Ancizar Serif ExtraBold"/>
                <a:cs typeface="Ancizar Serif ExtraBold"/>
                <a:sym typeface="Ancizar Serif ExtraBold"/>
              </a:rPr>
              <a:t>Introducción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77376" y="783313"/>
            <a:ext cx="7877165" cy="1817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cizar Sans"/>
              <a:buNone/>
            </a:pPr>
            <a:r>
              <a:rPr lang="es-CO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CONTEXTO Y MOTIVACIÓN</a:t>
            </a:r>
            <a:endParaRPr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59080" y="4720590"/>
            <a:ext cx="311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Facultad de Ingeniería</a:t>
            </a:r>
            <a:endParaRPr i="1" sz="900"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Sede Bogotá</a:t>
            </a:r>
            <a:endParaRPr i="1" sz="900"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301256" y="1805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77375" y="1286550"/>
            <a:ext cx="41928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cizar Sans Light"/>
              <a:buChar char="●"/>
            </a:pP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Las medidas de similitud son </a:t>
            </a: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críticas para la detección de objetos y posicionamiento en video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cizar Sans Light"/>
              <a:buChar char="●"/>
            </a:pP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La correlación normalizada es el estándar, pero presenta </a:t>
            </a: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altos niveles de picos secundarios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ncizar Sans"/>
              <a:ea typeface="Ancizar Sans"/>
              <a:cs typeface="Ancizar Sans"/>
              <a:sym typeface="Ancizar Sans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cizar Sans Light"/>
              <a:buChar char="●"/>
            </a:pP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Falta de robustez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 en imágenes de bajo contraste o con componentes de ruido.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</p:txBody>
      </p:sp>
      <p:pic>
        <p:nvPicPr>
          <p:cNvPr descr="image.png" id="94" name="Google Shape;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3975" y="1405613"/>
            <a:ext cx="3240576" cy="2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/>
        </p:nvSpPr>
        <p:spPr>
          <a:xfrm>
            <a:off x="477376" y="302401"/>
            <a:ext cx="66099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ncizar Serif ExtraBold"/>
              <a:buNone/>
            </a:pPr>
            <a:r>
              <a:rPr lang="es-CO" sz="2200">
                <a:solidFill>
                  <a:schemeClr val="accent1"/>
                </a:solidFill>
                <a:latin typeface="Ancizar Serif ExtraBold"/>
                <a:ea typeface="Ancizar Serif ExtraBold"/>
                <a:cs typeface="Ancizar Serif ExtraBold"/>
                <a:sym typeface="Ancizar Serif ExtraBold"/>
              </a:rPr>
              <a:t>Nuevo Criterio Minimax</a:t>
            </a:r>
            <a:endParaRPr sz="2200">
              <a:solidFill>
                <a:schemeClr val="accent1"/>
              </a:solidFill>
              <a:latin typeface="Ancizar Serif ExtraBold"/>
              <a:ea typeface="Ancizar Serif ExtraBold"/>
              <a:cs typeface="Ancizar Serif ExtraBold"/>
              <a:sym typeface="Ancizar Serif ExtraBold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77376" y="783313"/>
            <a:ext cx="7877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cizar Sans"/>
              <a:buNone/>
            </a:pPr>
            <a:r>
              <a:rPr lang="es-CO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FUNDAMENTOS DEL MODELO</a:t>
            </a:r>
            <a:endParaRPr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259080" y="4720590"/>
            <a:ext cx="311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Facultad de Ingeniería</a:t>
            </a:r>
            <a:endParaRPr i="1" sz="900"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Sede Bogotá</a:t>
            </a:r>
            <a:endParaRPr i="1" sz="900"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301256" y="1805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295650" y="1531075"/>
            <a:ext cx="855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Se propone una familia de funciones de similitud que analizan secuencialmente los elementos </a:t>
            </a: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a_ij 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y </a:t>
            </a: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b_ij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 de dos imágenes: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5651" y="2113625"/>
            <a:ext cx="4849225" cy="9162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55525" y="3304625"/>
            <a:ext cx="766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Este enfoque permite una </a:t>
            </a: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estimación integral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 basada en el análisis minimax de los elementos de la imagen.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477376" y="302401"/>
            <a:ext cx="66099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ncizar Serif ExtraBold"/>
              <a:buNone/>
            </a:pPr>
            <a:r>
              <a:rPr lang="es-CO" sz="2200">
                <a:solidFill>
                  <a:schemeClr val="accent1"/>
                </a:solidFill>
                <a:latin typeface="Ancizar Serif ExtraBold"/>
                <a:ea typeface="Ancizar Serif ExtraBold"/>
                <a:cs typeface="Ancizar Serif ExtraBold"/>
                <a:sym typeface="Ancizar Serif ExtraBold"/>
              </a:rPr>
              <a:t>Complejidad Computacional</a:t>
            </a:r>
            <a:endParaRPr sz="2200">
              <a:solidFill>
                <a:schemeClr val="accent1"/>
              </a:solidFill>
              <a:latin typeface="Ancizar Serif ExtraBold"/>
              <a:ea typeface="Ancizar Serif ExtraBold"/>
              <a:cs typeface="Ancizar Serif ExtraBold"/>
              <a:sym typeface="Ancizar Serif ExtraBold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477376" y="783313"/>
            <a:ext cx="7877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cizar Sans"/>
              <a:buNone/>
            </a:pPr>
            <a:r>
              <a:rPr lang="es-CO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EFICIENCIA ALGORÍTMICA</a:t>
            </a:r>
            <a:endParaRPr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259080" y="4720590"/>
            <a:ext cx="311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Facultad de Ingeniería</a:t>
            </a:r>
            <a:endParaRPr i="1" sz="900"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Sede Bogotá</a:t>
            </a:r>
            <a:endParaRPr i="1" sz="900"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113" name="Google Shape;113;p15"/>
          <p:cNvSpPr txBox="1"/>
          <p:nvPr>
            <p:ph idx="12" type="sldNum"/>
          </p:nvPr>
        </p:nvSpPr>
        <p:spPr>
          <a:xfrm>
            <a:off x="301256" y="1805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397438" y="1710013"/>
            <a:ext cx="2919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Flops requeridos para el criterio Minimax, reduciendo la carga computacional </a:t>
            </a: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significativamente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2180238" y="1402213"/>
            <a:ext cx="300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3N²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09950" y="3228688"/>
            <a:ext cx="8324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Minimax: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 Requiere aproximadamente </a:t>
            </a: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3N²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 operaciones (comparación, división, suma).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Correlación Normalizada: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 Requiere aproximadamente </a:t>
            </a: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6N²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 operaciones.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cizar Sans Light"/>
              <a:buChar char="➔"/>
            </a:pP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Proporciona una reducción del 50% en la complejidad de cálculo.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477376" y="302401"/>
            <a:ext cx="66099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ncizar Serif ExtraBold"/>
              <a:buNone/>
            </a:pPr>
            <a:r>
              <a:rPr lang="es-CO" sz="2200">
                <a:solidFill>
                  <a:schemeClr val="accent1"/>
                </a:solidFill>
                <a:latin typeface="Ancizar Serif ExtraBold"/>
                <a:ea typeface="Ancizar Serif ExtraBold"/>
                <a:cs typeface="Ancizar Serif ExtraBold"/>
                <a:sym typeface="Ancizar Serif ExtraBold"/>
              </a:rPr>
              <a:t>Detección de Objetos Estáticos</a:t>
            </a:r>
            <a:endParaRPr sz="2200">
              <a:solidFill>
                <a:schemeClr val="accent1"/>
              </a:solidFill>
              <a:latin typeface="Ancizar Serif ExtraBold"/>
              <a:ea typeface="Ancizar Serif ExtraBold"/>
              <a:cs typeface="Ancizar Serif ExtraBold"/>
              <a:sym typeface="Ancizar Serif ExtraBold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477376" y="783313"/>
            <a:ext cx="7877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cizar Sans"/>
              <a:buNone/>
            </a:pPr>
            <a:r>
              <a:rPr lang="es-CO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ANÁLISIS DE RESOLUCIÓN ESPACIAL</a:t>
            </a:r>
            <a:endParaRPr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259080" y="4720590"/>
            <a:ext cx="311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Facultad de Ingeniería</a:t>
            </a:r>
            <a:endParaRPr i="1" sz="900"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Sede Bogotá</a:t>
            </a:r>
            <a:endParaRPr i="1" sz="900"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124" name="Google Shape;124;p16"/>
          <p:cNvSpPr txBox="1"/>
          <p:nvPr>
            <p:ph idx="12" type="sldNum"/>
          </p:nvPr>
        </p:nvSpPr>
        <p:spPr>
          <a:xfrm>
            <a:off x="301256" y="1805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480275" y="1286550"/>
            <a:ext cx="35559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cizar Sans Light"/>
              <a:buChar char="●"/>
            </a:pP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La función multiplicativa RM proporciona la localización </a:t>
            </a: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más exacta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cizar Sans Light"/>
              <a:buChar char="●"/>
            </a:pP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Alta resolución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 en el pico de similitud, eliminando ambigüedades.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cizar Sans Light"/>
              <a:buChar char="●"/>
            </a:pP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Contraste superior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 frente a la correlación cruzada tradicional.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925" y="1384713"/>
            <a:ext cx="3116700" cy="2243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/>
        </p:nvSpPr>
        <p:spPr>
          <a:xfrm>
            <a:off x="477376" y="302401"/>
            <a:ext cx="66099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ncizar Serif ExtraBold"/>
              <a:buNone/>
            </a:pPr>
            <a:r>
              <a:rPr lang="es-CO" sz="2200">
                <a:solidFill>
                  <a:schemeClr val="accent1"/>
                </a:solidFill>
                <a:latin typeface="Ancizar Serif ExtraBold"/>
                <a:ea typeface="Ancizar Serif ExtraBold"/>
                <a:cs typeface="Ancizar Serif ExtraBold"/>
                <a:sym typeface="Ancizar Serif ExtraBold"/>
              </a:rPr>
              <a:t>Detección de Objetos Móviles</a:t>
            </a:r>
            <a:endParaRPr sz="2200">
              <a:solidFill>
                <a:schemeClr val="accent1"/>
              </a:solidFill>
              <a:latin typeface="Ancizar Serif ExtraBold"/>
              <a:ea typeface="Ancizar Serif ExtraBold"/>
              <a:cs typeface="Ancizar Serif ExtraBold"/>
              <a:sym typeface="Ancizar Serif ExtraBold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477376" y="783313"/>
            <a:ext cx="7877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cizar Sans"/>
              <a:buNone/>
            </a:pPr>
            <a:r>
              <a:rPr lang="es-CO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APLICACIÓN EN SECUENCIAS DINÁMICAS</a:t>
            </a:r>
            <a:endParaRPr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259080" y="4720590"/>
            <a:ext cx="311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Facultad de Ingeniería</a:t>
            </a:r>
            <a:endParaRPr i="1" sz="900"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Sede Bogotá</a:t>
            </a:r>
            <a:endParaRPr i="1" sz="900"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134" name="Google Shape;134;p17"/>
          <p:cNvSpPr txBox="1"/>
          <p:nvPr>
            <p:ph idx="12" type="sldNum"/>
          </p:nvPr>
        </p:nvSpPr>
        <p:spPr>
          <a:xfrm>
            <a:off x="301256" y="1805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780875" y="1286550"/>
            <a:ext cx="35559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cizar Sans Light"/>
              <a:buChar char="●"/>
            </a:pP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Uso de </a:t>
            </a: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niveles de similitud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 para comparar fragmentos de cuadros adyacentes.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cizar Sans Light"/>
              <a:buChar char="●"/>
            </a:pP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Mayor contraste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 para la localización de objetos móviles en fondos complejos.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cizar Sans Light"/>
              <a:buChar char="●"/>
            </a:pP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Robustez mejorada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 mediante la función aditiva promedio.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9650" y="864600"/>
            <a:ext cx="3668750" cy="330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477376" y="302401"/>
            <a:ext cx="66099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ncizar Serif ExtraBold"/>
              <a:buNone/>
            </a:pPr>
            <a:r>
              <a:rPr lang="es-CO" sz="2200">
                <a:solidFill>
                  <a:schemeClr val="accent1"/>
                </a:solidFill>
                <a:latin typeface="Ancizar Serif ExtraBold"/>
                <a:ea typeface="Ancizar Serif ExtraBold"/>
                <a:cs typeface="Ancizar Serif ExtraBold"/>
                <a:sym typeface="Ancizar Serif ExtraBold"/>
              </a:rPr>
              <a:t>Comparativa de Métodos</a:t>
            </a:r>
            <a:endParaRPr sz="2200">
              <a:solidFill>
                <a:schemeClr val="accent1"/>
              </a:solidFill>
              <a:latin typeface="Ancizar Serif ExtraBold"/>
              <a:ea typeface="Ancizar Serif ExtraBold"/>
              <a:cs typeface="Ancizar Serif ExtraBold"/>
              <a:sym typeface="Ancizar Serif ExtraBol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477376" y="783313"/>
            <a:ext cx="7877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cizar Sans"/>
              <a:buNone/>
            </a:pPr>
            <a:r>
              <a:rPr lang="es-CO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EVALUACIÓN DE DESEMPEÑO</a:t>
            </a:r>
            <a:endParaRPr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259080" y="4720590"/>
            <a:ext cx="311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Facultad de Ingeniería</a:t>
            </a:r>
            <a:endParaRPr i="1" sz="900"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Sede Bogotá</a:t>
            </a:r>
            <a:endParaRPr i="1" sz="900"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144" name="Google Shape;144;p18"/>
          <p:cNvSpPr txBox="1"/>
          <p:nvPr>
            <p:ph idx="12" type="sldNum"/>
          </p:nvPr>
        </p:nvSpPr>
        <p:spPr>
          <a:xfrm>
            <a:off x="301256" y="1805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graphicFrame>
        <p:nvGraphicFramePr>
          <p:cNvPr id="145" name="Google Shape;145;p18"/>
          <p:cNvGraphicFramePr/>
          <p:nvPr/>
        </p:nvGraphicFramePr>
        <p:xfrm>
          <a:off x="341650" y="18096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{176E45CC-7A0F-46B0-8DA4-F23A8E1FD76B}</a:tableStyleId>
              </a:tblPr>
              <a:tblGrid>
                <a:gridCol w="3309775"/>
                <a:gridCol w="1303175"/>
                <a:gridCol w="1944450"/>
                <a:gridCol w="1903300"/>
              </a:tblGrid>
              <a:tr h="38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O" sz="1200" u="none" cap="none" strike="noStrike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Criterio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O" sz="1200" u="none" cap="none" strike="noStrike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Operaciones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O" sz="1200" u="none" cap="none" strike="noStrike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Precisión de Pico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O" sz="1200" u="none" cap="none" strike="noStrike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Resistencia al Ruido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33"/>
                    </a:solidFill>
                  </a:tcPr>
                </a:tc>
              </a:tr>
              <a:tr h="38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O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Correlación Cruzada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O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 6N²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O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Baja (Pico ancho)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O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Media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O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Minimax Aditivo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O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 3N²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O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O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O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Suma de Diferencias Cuadradas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O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 7N²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O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Media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O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Baja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/>
        </p:nvSpPr>
        <p:spPr>
          <a:xfrm>
            <a:off x="477376" y="302401"/>
            <a:ext cx="66099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ncizar Serif ExtraBold"/>
              <a:buNone/>
            </a:pPr>
            <a:r>
              <a:rPr lang="es-CO" sz="2200">
                <a:solidFill>
                  <a:schemeClr val="accent1"/>
                </a:solidFill>
                <a:latin typeface="Ancizar Serif ExtraBold"/>
                <a:ea typeface="Ancizar Serif ExtraBold"/>
                <a:cs typeface="Ancizar Serif ExtraBold"/>
                <a:sym typeface="Ancizar Serif ExtraBold"/>
              </a:rPr>
              <a:t>Conclusiones</a:t>
            </a:r>
            <a:endParaRPr sz="2200">
              <a:solidFill>
                <a:schemeClr val="accent1"/>
              </a:solidFill>
              <a:latin typeface="Ancizar Serif ExtraBold"/>
              <a:ea typeface="Ancizar Serif ExtraBold"/>
              <a:cs typeface="Ancizar Serif ExtraBold"/>
              <a:sym typeface="Ancizar Serif ExtraBold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477376" y="783313"/>
            <a:ext cx="7877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cizar Sans"/>
              <a:buNone/>
            </a:pPr>
            <a:r>
              <a:rPr lang="es-CO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RESUMEN DE HALLAZGOS</a:t>
            </a:r>
            <a:endParaRPr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259080" y="4720590"/>
            <a:ext cx="311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Facultad de Ingeniería</a:t>
            </a:r>
            <a:endParaRPr i="1" sz="900"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Sede Bogotá</a:t>
            </a:r>
            <a:endParaRPr i="1" sz="900">
              <a:solidFill>
                <a:schemeClr val="accent1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153" name="Google Shape;153;p19"/>
          <p:cNvSpPr txBox="1"/>
          <p:nvPr>
            <p:ph idx="12" type="sldNum"/>
          </p:nvPr>
        </p:nvSpPr>
        <p:spPr>
          <a:xfrm>
            <a:off x="301256" y="1805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568950" y="1286550"/>
            <a:ext cx="80061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cizar Sans Light"/>
              <a:buChar char="●"/>
            </a:pP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Se desarrolló una nueva familia de criterios Minimax para el </a:t>
            </a: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procesamiento de imágenes y video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cizar Sans Light"/>
              <a:buChar char="●"/>
            </a:pP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El conjunto de funciones incluye </a:t>
            </a: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variantes multiplicativas, aditivas y de grado P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 según la necesidad de robustez.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cizar Sans Light"/>
              <a:buChar char="●"/>
            </a:pP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La propuesta </a:t>
            </a: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mejora la resolución 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para procesar imágenes estáticas y dinámicas con menor costo computacional.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cizar Sans Light"/>
              <a:buChar char="●"/>
            </a:pP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La eficiencia algorítmica permite su implementación en </a:t>
            </a:r>
            <a:r>
              <a:rPr b="1" lang="es-CO">
                <a:solidFill>
                  <a:schemeClr val="dk1"/>
                </a:solidFill>
                <a:latin typeface="Ancizar Sans"/>
                <a:ea typeface="Ancizar Sans"/>
                <a:cs typeface="Ancizar Sans"/>
                <a:sym typeface="Ancizar Sans"/>
              </a:rPr>
              <a:t>sistemas de procesamiento de video en tiempo real</a:t>
            </a: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.</a:t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/>
        </p:nvSpPr>
        <p:spPr>
          <a:xfrm>
            <a:off x="477376" y="302401"/>
            <a:ext cx="6609810" cy="562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ncizar Serif ExtraBold"/>
              <a:buNone/>
            </a:pPr>
            <a:r>
              <a:rPr lang="es-CO" sz="2200">
                <a:solidFill>
                  <a:schemeClr val="accent1"/>
                </a:solidFill>
                <a:latin typeface="Ancizar Serif ExtraBold"/>
                <a:ea typeface="Ancizar Serif ExtraBold"/>
                <a:cs typeface="Ancizar Serif ExtraBold"/>
                <a:sym typeface="Ancizar Serif ExtraBold"/>
              </a:rPr>
              <a:t>Referencias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77376" y="783313"/>
            <a:ext cx="7877165" cy="1817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cizar Sans"/>
              <a:buNone/>
            </a:pPr>
            <a:r>
              <a:rPr lang="es-CO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Artículo Científico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259080" y="4720590"/>
            <a:ext cx="311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lt2"/>
                </a:solidFill>
                <a:latin typeface="Ancizar Sans"/>
                <a:ea typeface="Ancizar Sans"/>
                <a:cs typeface="Ancizar Sans"/>
                <a:sym typeface="Ancizar Sans"/>
              </a:rPr>
              <a:t>Facultad de Ingeniería</a:t>
            </a:r>
            <a:endParaRPr i="1" sz="900">
              <a:solidFill>
                <a:schemeClr val="lt2"/>
              </a:solidFill>
              <a:latin typeface="Ancizar Sans"/>
              <a:ea typeface="Ancizar Sans"/>
              <a:cs typeface="Ancizar Sans"/>
              <a:sym typeface="Ancizar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lt2"/>
                </a:solidFill>
                <a:latin typeface="Ancizar Sans"/>
                <a:ea typeface="Ancizar Sans"/>
                <a:cs typeface="Ancizar Sans"/>
                <a:sym typeface="Ancizar Sans"/>
              </a:rPr>
              <a:t>Sede Bogotá</a:t>
            </a:r>
            <a:endParaRPr i="1" sz="900">
              <a:solidFill>
                <a:schemeClr val="lt2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561600" y="1303200"/>
            <a:ext cx="80712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ncizar Serif ExtraBold"/>
              <a:buAutoNum type="arabicPeriod"/>
            </a:pPr>
            <a:r>
              <a:rPr lang="es-CO">
                <a:solidFill>
                  <a:schemeClr val="dk1"/>
                </a:solidFill>
                <a:latin typeface="Ancizar Sans Light"/>
                <a:ea typeface="Ancizar Sans Light"/>
                <a:cs typeface="Ancizar Sans Light"/>
                <a:sym typeface="Ancizar Sans Light"/>
              </a:rPr>
              <a:t>R. Bogush and S. Maltsev, "Minimax Criterion of Similarity for Video Information Processing," 2007 Siberian Conference on Control and Communications, Tomsk, Russia, 2007, pp. 120-127, doi: 10.1109/SIBCON.2007.371310. keywords: {Minimax techniques;Information processing;Image analysis;Object detection;Communication system control;Algorithm design and analysis;Videoconference;Image sequences;Measurement units;Pattern recognition;Minimax similarity functions;object detection},</a:t>
            </a:r>
            <a:endParaRPr/>
          </a:p>
          <a:p>
            <a:pPr indent="-2540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cizar Serif ExtraBold"/>
              <a:buNone/>
            </a:pPr>
            <a:r>
              <a:t/>
            </a:r>
            <a:endParaRPr sz="1400">
              <a:solidFill>
                <a:schemeClr val="dk1"/>
              </a:solidFill>
              <a:latin typeface="Ancizar Sans Light"/>
              <a:ea typeface="Ancizar Sans Light"/>
              <a:cs typeface="Ancizar Sans Light"/>
              <a:sym typeface="Ancizar Sans Light"/>
            </a:endParaRPr>
          </a:p>
        </p:txBody>
      </p:sp>
      <p:sp>
        <p:nvSpPr>
          <p:cNvPr id="163" name="Google Shape;163;p20"/>
          <p:cNvSpPr txBox="1"/>
          <p:nvPr>
            <p:ph idx="12" type="sldNum"/>
          </p:nvPr>
        </p:nvSpPr>
        <p:spPr>
          <a:xfrm>
            <a:off x="301256" y="1805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/>
        </p:nvSpPr>
        <p:spPr>
          <a:xfrm>
            <a:off x="477376" y="302401"/>
            <a:ext cx="66099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ncizar Serif ExtraBold"/>
              <a:buNone/>
            </a:pPr>
            <a:r>
              <a:rPr lang="es-CO" sz="2200">
                <a:solidFill>
                  <a:schemeClr val="accent1"/>
                </a:solidFill>
                <a:latin typeface="Ancizar Serif ExtraBold"/>
                <a:ea typeface="Ancizar Serif ExtraBold"/>
                <a:cs typeface="Ancizar Serif ExtraBold"/>
                <a:sym typeface="Ancizar Serif ExtraBold"/>
              </a:rPr>
              <a:t>Referencias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477376" y="783313"/>
            <a:ext cx="7877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cizar Sans"/>
              <a:buNone/>
            </a:pPr>
            <a:r>
              <a:rPr lang="es-CO">
                <a:solidFill>
                  <a:schemeClr val="accent1"/>
                </a:solidFill>
                <a:latin typeface="Ancizar Sans"/>
                <a:ea typeface="Ancizar Sans"/>
                <a:cs typeface="Ancizar Sans"/>
                <a:sym typeface="Ancizar Sans"/>
              </a:rPr>
              <a:t>Imágenes</a:t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259080" y="4720590"/>
            <a:ext cx="311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lt2"/>
                </a:solidFill>
                <a:latin typeface="Ancizar Sans"/>
                <a:ea typeface="Ancizar Sans"/>
                <a:cs typeface="Ancizar Sans"/>
                <a:sym typeface="Ancizar Sans"/>
              </a:rPr>
              <a:t>Facultad de Ingeniería</a:t>
            </a:r>
            <a:endParaRPr i="1" sz="900">
              <a:solidFill>
                <a:schemeClr val="lt2"/>
              </a:solidFill>
              <a:latin typeface="Ancizar Sans"/>
              <a:ea typeface="Ancizar Sans"/>
              <a:cs typeface="Ancizar Sans"/>
              <a:sym typeface="Ancizar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900">
                <a:solidFill>
                  <a:schemeClr val="lt2"/>
                </a:solidFill>
                <a:latin typeface="Ancizar Sans"/>
                <a:ea typeface="Ancizar Sans"/>
                <a:cs typeface="Ancizar Sans"/>
                <a:sym typeface="Ancizar Sans"/>
              </a:rPr>
              <a:t>Sede Bogotá</a:t>
            </a:r>
            <a:endParaRPr i="1" sz="900">
              <a:solidFill>
                <a:schemeClr val="lt2"/>
              </a:solidFill>
              <a:latin typeface="Ancizar Sans"/>
              <a:ea typeface="Ancizar Sans"/>
              <a:cs typeface="Ancizar Sans"/>
              <a:sym typeface="Ancizar Sans"/>
            </a:endParaRPr>
          </a:p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301256" y="1805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491075" y="1488188"/>
            <a:ext cx="8161800" cy="5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75" lIns="67550" spcFirstLastPara="1" rIns="67550" wrap="square" tIns="33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491075" y="2058111"/>
            <a:ext cx="8161800" cy="5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75" lIns="67550" spcFirstLastPara="1" rIns="67550" wrap="square" tIns="33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491075" y="2628035"/>
            <a:ext cx="8161800" cy="5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75" lIns="67550" spcFirstLastPara="1" rIns="67550" wrap="square" tIns="33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491075" y="2051075"/>
            <a:ext cx="8161800" cy="69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33775" lIns="67550" spcFirstLastPara="1" rIns="67550" wrap="square" tIns="33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91075" y="2051075"/>
            <a:ext cx="8161800" cy="69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33775" lIns="67550" spcFirstLastPara="1" rIns="67550" wrap="square" tIns="33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491075" y="2620999"/>
            <a:ext cx="8161800" cy="69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33775" lIns="67550" spcFirstLastPara="1" rIns="67550" wrap="square" tIns="33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491075" y="2620999"/>
            <a:ext cx="8161800" cy="69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33775" lIns="67550" spcFirstLastPara="1" rIns="67550" wrap="square" tIns="33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491075" y="3190923"/>
            <a:ext cx="8161800" cy="69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33775" lIns="67550" spcFirstLastPara="1" rIns="67550" wrap="square" tIns="33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491075" y="3190923"/>
            <a:ext cx="8161800" cy="69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33775" lIns="67550" spcFirstLastPara="1" rIns="67550" wrap="square" tIns="33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1" name="Google Shape;18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075" y="1593729"/>
            <a:ext cx="633248" cy="35180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1300228" y="1628909"/>
            <a:ext cx="73527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2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https://upload.wikimedia.org/wikipedia/commons/0/0a/Logotipo_de_la_Universidad_Nacional_de_Colombia.svg</a:t>
            </a:r>
            <a:endParaRPr sz="1034"/>
          </a:p>
        </p:txBody>
      </p:sp>
      <p:sp>
        <p:nvSpPr>
          <p:cNvPr id="183" name="Google Shape;183;p21"/>
          <p:cNvSpPr txBox="1"/>
          <p:nvPr/>
        </p:nvSpPr>
        <p:spPr>
          <a:xfrm>
            <a:off x="1300228" y="1776668"/>
            <a:ext cx="73527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86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s-CO" sz="886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uk.wikipedia.org</a:t>
            </a:r>
            <a:endParaRPr sz="1034"/>
          </a:p>
        </p:txBody>
      </p:sp>
      <p:pic>
        <p:nvPicPr>
          <p:cNvPr descr="image.png" id="184" name="Google Shape;18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075" y="2163653"/>
            <a:ext cx="633248" cy="35180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1300228" y="2198833"/>
            <a:ext cx="73527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2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https://lumenci.com/wp-content/uploads/2024/03/Digital-Image-Processing-Banner-1024x576.webp</a:t>
            </a:r>
            <a:endParaRPr sz="1034"/>
          </a:p>
        </p:txBody>
      </p:sp>
      <p:sp>
        <p:nvSpPr>
          <p:cNvPr id="186" name="Google Shape;186;p21"/>
          <p:cNvSpPr txBox="1"/>
          <p:nvPr/>
        </p:nvSpPr>
        <p:spPr>
          <a:xfrm>
            <a:off x="1300228" y="2346591"/>
            <a:ext cx="73527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86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s-CO" sz="886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lumenci.com</a:t>
            </a:r>
            <a:endParaRPr sz="1034"/>
          </a:p>
        </p:txBody>
      </p:sp>
      <p:pic>
        <p:nvPicPr>
          <p:cNvPr descr="image.png" id="187" name="Google Shape;18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075" y="2733577"/>
            <a:ext cx="633248" cy="35180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1300228" y="2768757"/>
            <a:ext cx="73527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2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https://support.minitab.com/en-us/minitab/media/generated-content/images/surface_plot_example.png</a:t>
            </a:r>
            <a:endParaRPr sz="1034"/>
          </a:p>
        </p:txBody>
      </p:sp>
      <p:sp>
        <p:nvSpPr>
          <p:cNvPr id="189" name="Google Shape;189;p21"/>
          <p:cNvSpPr txBox="1"/>
          <p:nvPr/>
        </p:nvSpPr>
        <p:spPr>
          <a:xfrm>
            <a:off x="1300228" y="2916515"/>
            <a:ext cx="73527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86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s-CO" sz="886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support.minitab.com</a:t>
            </a:r>
            <a:endParaRPr sz="1034"/>
          </a:p>
        </p:txBody>
      </p:sp>
      <p:pic>
        <p:nvPicPr>
          <p:cNvPr descr="image.png" id="190" name="Google Shape;19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1075" y="3303501"/>
            <a:ext cx="633248" cy="35180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1300228" y="3338681"/>
            <a:ext cx="73527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2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http://robofinity.com/cdn/shop/articles/14_97a44a7e-cfd7-4511-bad9-af3a06b8377e.png?v=1755506825&amp;width=2048</a:t>
            </a:r>
            <a:endParaRPr sz="1034"/>
          </a:p>
        </p:txBody>
      </p:sp>
      <p:sp>
        <p:nvSpPr>
          <p:cNvPr id="192" name="Google Shape;192;p21"/>
          <p:cNvSpPr txBox="1"/>
          <p:nvPr/>
        </p:nvSpPr>
        <p:spPr>
          <a:xfrm>
            <a:off x="1300228" y="3486439"/>
            <a:ext cx="73527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86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s-CO" sz="886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robofinity.com</a:t>
            </a:r>
            <a:endParaRPr sz="1034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/>
        </p:nvSpPr>
        <p:spPr>
          <a:xfrm>
            <a:off x="3514723" y="2190490"/>
            <a:ext cx="2093483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3200">
                <a:solidFill>
                  <a:schemeClr val="lt2"/>
                </a:solidFill>
                <a:latin typeface="Ancizar Serif"/>
                <a:ea typeface="Ancizar Serif"/>
                <a:cs typeface="Ancizar Serif"/>
                <a:sym typeface="Ancizar Serif"/>
              </a:rPr>
              <a:t>Gracias</a:t>
            </a:r>
            <a:endParaRPr/>
          </a:p>
        </p:txBody>
      </p:sp>
      <p:sp>
        <p:nvSpPr>
          <p:cNvPr id="198" name="Google Shape;198;p22"/>
          <p:cNvSpPr txBox="1"/>
          <p:nvPr>
            <p:ph idx="12" type="sldNum"/>
          </p:nvPr>
        </p:nvSpPr>
        <p:spPr>
          <a:xfrm>
            <a:off x="301256" y="1805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antilla-presentacion">
  <a:themeElements>
    <a:clrScheme name="UNAL 2024">
      <a:dk1>
        <a:srgbClr val="29272D"/>
      </a:dk1>
      <a:lt1>
        <a:srgbClr val="F7F5F2"/>
      </a:lt1>
      <a:dk2>
        <a:srgbClr val="481F63"/>
      </a:dk2>
      <a:lt2>
        <a:srgbClr val="F8ECCD"/>
      </a:lt2>
      <a:accent1>
        <a:srgbClr val="620C78"/>
      </a:accent1>
      <a:accent2>
        <a:srgbClr val="FFB93E"/>
      </a:accent2>
      <a:accent3>
        <a:srgbClr val="06784F"/>
      </a:accent3>
      <a:accent4>
        <a:srgbClr val="14C486"/>
      </a:accent4>
      <a:accent5>
        <a:srgbClr val="9F00C4"/>
      </a:accent5>
      <a:accent6>
        <a:srgbClr val="F79646"/>
      </a:accent6>
      <a:hlink>
        <a:srgbClr val="14C486"/>
      </a:hlink>
      <a:folHlink>
        <a:srgbClr val="9F00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